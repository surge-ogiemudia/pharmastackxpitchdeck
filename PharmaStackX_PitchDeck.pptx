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46720" y="457200"/>
            <a:ext cx="3657600" cy="5943600"/>
          </a:xfrm>
          <a:prstGeom prst="roundRect">
            <a:avLst/>
          </a:prstGeom>
          <a:solidFill>
            <a:srgbClr val="0A1628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1280160"/>
            <a:ext cx="2560320" cy="2560320"/>
          </a:xfrm>
          <a:prstGeom prst="ellipse">
            <a:avLst/>
          </a:prstGeom>
          <a:solidFill>
            <a:srgbClr val="041C14"/>
          </a:solidFill>
          <a:ln w="12700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737360"/>
            <a:ext cx="1645920" cy="1645920"/>
          </a:xfrm>
          <a:prstGeom prst="ellipse">
            <a:avLst/>
          </a:prstGeom>
          <a:solidFill>
            <a:srgbClr val="03120A"/>
          </a:solidFill>
          <a:ln w="7620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2103120"/>
            <a:ext cx="914400" cy="914400"/>
          </a:xfrm>
          <a:prstGeom prst="ellipse">
            <a:avLst/>
          </a:prstGeom>
          <a:solidFill>
            <a:srgbClr val="003824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4028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00E5A0"/>
                </a:solidFill>
                <a:latin typeface="Calibri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6858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800" b="1" i="0">
                <a:solidFill>
                  <a:srgbClr val="F0F4FF"/>
                </a:solidFill>
                <a:latin typeface="Calibri"/>
              </a:rPr>
              <a:t>Pharma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6858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800" b="1" i="0">
                <a:solidFill>
                  <a:srgbClr val="00E5A0"/>
                </a:solidFill>
                <a:latin typeface="Calibri"/>
              </a:rPr>
              <a:t>StackX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1323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7A8FA6"/>
                </a:solidFill>
                <a:latin typeface="Calibri"/>
              </a:rPr>
              <a:t>When a pharmacy can't fill your prescription,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7A8FA6"/>
                </a:solidFill>
                <a:latin typeface="Calibri"/>
              </a:rPr>
              <a:t>PharmaStackX finds the nearest pharmacy that has it —</a:t>
            </a:r>
          </a:p>
          <a:p>
            <a:pPr algn="l"/>
            <a:r>
              <a:rPr sz="1600" b="1" i="0">
                <a:solidFill>
                  <a:srgbClr val="F0F4FF"/>
                </a:solidFill>
                <a:latin typeface="Calibri"/>
              </a:rPr>
              <a:t>live, ranked by distance. In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36576" cy="6858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97680"/>
            <a:ext cx="1554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7A8FA6"/>
                </a:solidFill>
                <a:latin typeface="Calibri"/>
              </a:rPr>
              <a:t>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53712"/>
            <a:ext cx="1554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0F4FF"/>
                </a:solidFill>
                <a:latin typeface="Calibri"/>
              </a:rPr>
              <a:t>Pre-Seed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4297680"/>
            <a:ext cx="36576" cy="6858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297680"/>
            <a:ext cx="1554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7A8FA6"/>
                </a:solidFill>
                <a:latin typeface="Calibri"/>
              </a:rPr>
              <a:t>RAISE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4553712"/>
            <a:ext cx="1554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0F4FF"/>
                </a:solidFill>
                <a:latin typeface="Calibri"/>
              </a:rPr>
              <a:t>$100,000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297680"/>
            <a:ext cx="36576" cy="6858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4297680"/>
            <a:ext cx="1554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7A8FA6"/>
                </a:solidFill>
                <a:latin typeface="Calibri"/>
              </a:rPr>
              <a:t>FOUNDER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4553712"/>
            <a:ext cx="1554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0F4FF"/>
                </a:solidFill>
                <a:latin typeface="Calibri"/>
              </a:rPr>
              <a:t>Surge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599" y="4297680"/>
            <a:ext cx="36576" cy="6858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7" y="4297680"/>
            <a:ext cx="1554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7A8FA6"/>
                </a:solidFill>
                <a:latin typeface="Calibri"/>
              </a:rPr>
              <a:t>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7" y="4553712"/>
            <a:ext cx="1554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0F4FF"/>
                </a:solidFill>
                <a:latin typeface="Calibri"/>
              </a:rPr>
              <a:t>Nigeria → Africa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69280"/>
            <a:ext cx="6949440" cy="594360"/>
          </a:xfrm>
          <a:prstGeom prst="roundRect">
            <a:avLst/>
          </a:prstGeom>
          <a:solidFill>
            <a:srgbClr val="042018"/>
          </a:solidFill>
          <a:ln w="9525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6583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1">
                <a:solidFill>
                  <a:srgbClr val="00E5A0"/>
                </a:solidFill>
                <a:latin typeface="Calibri"/>
              </a:rPr>
              <a:t>Building Nigeria's real-time pharmacy inventory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F9731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>The medicine existed. Nobody knew where to find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3657600" cy="4572000"/>
          </a:xfrm>
          <a:prstGeom prst="roundRect">
            <a:avLst/>
          </a:prstGeom>
          <a:solidFill>
            <a:srgbClr val="180A0A"/>
          </a:solidFill>
          <a:ln w="12700"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san_obo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36576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0" y="155448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2022 — IN MEMORY OF SUSAN OBOH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920240"/>
            <a:ext cx="6400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>Shot in 2022. Needed Tranexamic Acid.
Died waiting.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474720"/>
            <a:ext cx="64008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7A8FA6"/>
                </a:solidFill>
                <a:latin typeface="Calibri"/>
              </a:rPr>
              <a:t>We searched every pharmacy we knew. We called reps. We begged the community. We never found it in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4754880"/>
            <a:ext cx="6400800" cy="822960"/>
          </a:xfrm>
          <a:prstGeom prst="roundRect">
            <a:avLst/>
          </a:prstGeom>
          <a:solidFill>
            <a:srgbClr val="281208"/>
          </a:solidFill>
          <a:ln w="6350">
            <a:solidFill>
              <a:srgbClr val="4A2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4892040"/>
            <a:ext cx="60350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F97316"/>
                </a:solidFill>
                <a:latin typeface="Calibri"/>
              </a:rPr>
              <a:t>Weeks later, I found it sitting on a shelf in a pharmacy nearby.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>This is not a supply problem, it's a visibility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206240" cy="4389120"/>
          </a:xfrm>
          <a:prstGeom prst="roundRect">
            <a:avLst/>
          </a:prstGeom>
          <a:solidFill>
            <a:srgbClr val="180A0A"/>
          </a:solidFill>
          <a:ln w="9525"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840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🔴 THE POINT OF FAILURE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3840480" cy="548640"/>
          </a:xfrm>
          <a:prstGeom prst="roundRect">
            <a:avLst/>
          </a:prstGeom>
          <a:solidFill>
            <a:srgbClr val="1A1214"/>
          </a:solidFill>
          <a:ln w="6350">
            <a:solidFill>
              <a:srgbClr val="4A2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1. Drug Out of Stock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3840480" cy="548640"/>
          </a:xfrm>
          <a:prstGeom prst="roundRect">
            <a:avLst/>
          </a:prstGeom>
          <a:solidFill>
            <a:srgbClr val="1A1214"/>
          </a:solidFill>
          <a:ln w="6350">
            <a:solidFill>
              <a:srgbClr val="4A2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2. WhatsApp Broadcast (15–30 Min Delay)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3840480" cy="548640"/>
          </a:xfrm>
          <a:prstGeom prst="roundRect">
            <a:avLst/>
          </a:prstGeom>
          <a:solidFill>
            <a:srgbClr val="2D1012"/>
          </a:solidFill>
          <a:ln w="6350"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3. Patient Leaves Untreated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06240"/>
            <a:ext cx="3840480" cy="1097280"/>
          </a:xfrm>
          <a:prstGeom prst="roundRect">
            <a:avLst/>
          </a:prstGeom>
          <a:solidFill>
            <a:srgbClr val="031810"/>
          </a:solidFill>
          <a:ln w="6350">
            <a:solidFill>
              <a:srgbClr val="0E4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389120"/>
            <a:ext cx="35661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25D366"/>
                </a:solidFill>
                <a:latin typeface="Calibri"/>
              </a:rPr>
              <a:t>📱 PROVEN MARKET DEMAND
180 Daily Urgent Requests Tracked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371600"/>
            <a:ext cx="6126480" cy="13258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4A2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508760"/>
            <a:ext cx="5760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🎯  Discovery Failure, Not Supply Scarcity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920240"/>
            <a:ext cx="5760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The medicine exists 2km away — it's simply invisible dark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880360"/>
            <a:ext cx="6126480" cy="13258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3017520"/>
            <a:ext cx="5760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⚡  Capturing the Point of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5760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We solve at the pharmacist's counter, not a B2B wholesale portal.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4389120"/>
            <a:ext cx="6126480" cy="13258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526280"/>
            <a:ext cx="5760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0E5A0"/>
                </a:solidFill>
                <a:latin typeface="Calibri"/>
              </a:rPr>
              <a:t>💡  Zero Behavior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937759"/>
            <a:ext cx="5760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Automating 15-minute manual WhatsApp searches into 3-second POS lookups.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>PharmaStackX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0E5A0"/>
                </a:solidFill>
                <a:latin typeface="Calibri"/>
              </a:rPr>
              <a:t>Real-time inventory discovery on the pharmacist's desktop.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937760" cy="96012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💻  An AI Desktop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Powered by a shared pharmacy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4937760" cy="96012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00E5A0"/>
                </a:solidFill>
                <a:latin typeface="Calibri"/>
              </a:rPr>
              <a:t>⚡  3-Second Live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Search any unavailable medicine and see who has it in 3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4937760" cy="96012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🎯  First-Line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Intercepts the point of failure before WhatsApp or e-medicine apps.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280160"/>
            <a:ext cx="5394960" cy="4846320"/>
          </a:xfrm>
          <a:prstGeom prst="roundRect">
            <a:avLst/>
          </a:prstGeom>
          <a:solidFill>
            <a:srgbClr val="020814"/>
          </a:solidFill>
          <a:ln w="1143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280160"/>
            <a:ext cx="5394960" cy="365760"/>
          </a:xfrm>
          <a:prstGeom prst="rect">
            <a:avLst/>
          </a:prstGeom>
          <a:solidFill>
            <a:srgbClr val="06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0" y="13898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389888"/>
            <a:ext cx="109728" cy="10972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0" y="138988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353312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7A8FA6"/>
                </a:solidFill>
                <a:latin typeface="Calibri"/>
              </a:rPr>
              <a:t>PharmaStackX Terminal — Source Tab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28800"/>
            <a:ext cx="4846320" cy="502920"/>
          </a:xfrm>
          <a:prstGeom prst="roundRect">
            <a:avLst/>
          </a:prstGeom>
          <a:solidFill>
            <a:srgbClr val="041424"/>
          </a:solidFill>
          <a:ln w="6350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20240"/>
            <a:ext cx="3840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🔍  Tranexamic Acid 500mg Injection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1938528"/>
            <a:ext cx="640080" cy="274320"/>
          </a:xfrm>
          <a:prstGeom prst="roundRect">
            <a:avLst/>
          </a:prstGeom>
          <a:solidFill>
            <a:srgbClr val="042014"/>
          </a:solidFill>
          <a:ln w="63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1965960"/>
            <a:ext cx="640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 i="0">
                <a:solidFill>
                  <a:srgbClr val="00E5A0"/>
                </a:solidFill>
                <a:latin typeface="Calibri"/>
              </a:rPr>
              <a:t>LIVE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1481328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29400" y="148132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444752"/>
            <a:ext cx="43891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7A8FA6"/>
                </a:solidFill>
                <a:latin typeface="Calibri"/>
              </a:rPr>
              <a:t>PharmaStackX Terminal — Source Tab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874519"/>
            <a:ext cx="4937760" cy="457200"/>
          </a:xfrm>
          <a:prstGeom prst="roundRect">
            <a:avLst/>
          </a:prstGeom>
          <a:solidFill>
            <a:srgbClr val="081A30"/>
          </a:solidFill>
          <a:ln w="762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965960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  <a:latin typeface="Calibri"/>
              </a:rPr>
              <a:t>🔍  Ipratropium 0.5mg Nebules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0" y="1965960"/>
            <a:ext cx="548640" cy="274320"/>
          </a:xfrm>
          <a:prstGeom prst="roundRect">
            <a:avLst/>
          </a:prstGeom>
          <a:solidFill>
            <a:srgbClr val="003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2011680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 i="0">
                <a:solidFill>
                  <a:srgbClr val="00E5A0"/>
                </a:solidFill>
                <a:latin typeface="Calibri"/>
              </a:rPr>
              <a:t>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423160"/>
            <a:ext cx="4937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7A8FA6"/>
                </a:solidFill>
                <a:latin typeface="Calibri"/>
              </a:rPr>
              <a:t>4 pharmacies found nearby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697480"/>
            <a:ext cx="4937760" cy="685800"/>
          </a:xfrm>
          <a:prstGeom prst="roundRect">
            <a:avLst/>
          </a:prstGeom>
          <a:solidFill>
            <a:srgbClr val="061224"/>
          </a:solidFill>
          <a:ln w="635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2834640"/>
            <a:ext cx="777240" cy="411480"/>
          </a:xfrm>
          <a:prstGeom prst="round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926080"/>
            <a:ext cx="7772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1" i="0">
                <a:solidFill>
                  <a:srgbClr val="00E5A0"/>
                </a:solidFill>
                <a:latin typeface="Calibri"/>
              </a:rPr>
              <a:t>0.3 km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898648"/>
            <a:ext cx="21945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Greenleaf Pharmacy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898648"/>
            <a:ext cx="1005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00E5A0"/>
                </a:solidFill>
                <a:latin typeface="Calibri"/>
              </a:rPr>
              <a:t>✓  8 units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2898648"/>
            <a:ext cx="640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7A8FA6"/>
                </a:solidFill>
                <a:latin typeface="Calibri"/>
              </a:rPr>
              <a:t>~2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502152"/>
            <a:ext cx="4937760" cy="685800"/>
          </a:xfrm>
          <a:prstGeom prst="roundRect">
            <a:avLst/>
          </a:prstGeom>
          <a:solidFill>
            <a:srgbClr val="061224"/>
          </a:solidFill>
          <a:ln w="635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46520" y="3639312"/>
            <a:ext cx="777240" cy="411480"/>
          </a:xfrm>
          <a:prstGeom prst="round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730752"/>
            <a:ext cx="7772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1" i="0">
                <a:solidFill>
                  <a:srgbClr val="00E5A0"/>
                </a:solidFill>
                <a:latin typeface="Calibri"/>
              </a:rPr>
              <a:t>1.2 km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703320"/>
            <a:ext cx="21945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HealthFirst Chemist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3703320"/>
            <a:ext cx="1005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00E5A0"/>
                </a:solidFill>
                <a:latin typeface="Calibri"/>
              </a:rPr>
              <a:t>✓  3 units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703320"/>
            <a:ext cx="640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7A8FA6"/>
                </a:solidFill>
                <a:latin typeface="Calibri"/>
              </a:rPr>
              <a:t>~6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306824"/>
            <a:ext cx="4937760" cy="685800"/>
          </a:xfrm>
          <a:prstGeom prst="roundRect">
            <a:avLst/>
          </a:prstGeom>
          <a:solidFill>
            <a:srgbClr val="061224"/>
          </a:solidFill>
          <a:ln w="635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46520" y="4443984"/>
            <a:ext cx="777240" cy="411480"/>
          </a:xfrm>
          <a:prstGeom prst="round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535424"/>
            <a:ext cx="7772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1" i="0">
                <a:solidFill>
                  <a:srgbClr val="00E5A0"/>
                </a:solidFill>
                <a:latin typeface="Calibri"/>
              </a:rPr>
              <a:t>2.1 km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507992"/>
            <a:ext cx="21945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Medicare Pharmacy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4507992"/>
            <a:ext cx="1005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00E5A0"/>
                </a:solidFill>
                <a:latin typeface="Calibri"/>
              </a:rPr>
              <a:t>✓ 12 units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4507992"/>
            <a:ext cx="640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7A8FA6"/>
                </a:solidFill>
                <a:latin typeface="Calibri"/>
              </a:rPr>
              <a:t>~9 min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5111496"/>
            <a:ext cx="4937760" cy="685800"/>
          </a:xfrm>
          <a:prstGeom prst="roundRect">
            <a:avLst/>
          </a:prstGeom>
          <a:solidFill>
            <a:srgbClr val="061224"/>
          </a:solidFill>
          <a:ln w="635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46520" y="5248656"/>
            <a:ext cx="777240" cy="411480"/>
          </a:xfrm>
          <a:prstGeom prst="roundRect">
            <a:avLst/>
          </a:prstGeom>
          <a:solidFill>
            <a:srgbClr val="3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5340096"/>
            <a:ext cx="7772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1" i="0">
                <a:solidFill>
                  <a:srgbClr val="EF4444"/>
                </a:solidFill>
                <a:latin typeface="Calibri"/>
              </a:rPr>
              <a:t>3.8 km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312664"/>
            <a:ext cx="21945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7A8FA6"/>
                </a:solidFill>
                <a:latin typeface="Calibri"/>
              </a:rPr>
              <a:t>City Drugs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5312664"/>
            <a:ext cx="1005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✗  Out of stock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5312664"/>
            <a:ext cx="640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7A8FA6"/>
                </a:solidFill>
                <a:latin typeface="Calibri"/>
              </a:rPr>
              <a:t>~18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069080"/>
          </a:xfrm>
          <a:prstGeom prst="roundRect">
            <a:avLst/>
          </a:prstGeom>
          <a:solidFill>
            <a:srgbClr val="061830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TAM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834640"/>
            <a:ext cx="2743200" cy="2697480"/>
          </a:xfrm>
          <a:prstGeom prst="roundRect">
            <a:avLst/>
          </a:prstGeom>
          <a:solidFill>
            <a:srgbClr val="081A2C"/>
          </a:solidFill>
          <a:ln w="1016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06324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SAM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251960"/>
            <a:ext cx="2011680" cy="1280160"/>
          </a:xfrm>
          <a:prstGeom prst="roundRect">
            <a:avLst/>
          </a:prstGeom>
          <a:solidFill>
            <a:srgbClr val="042418"/>
          </a:solidFill>
          <a:ln w="1524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448056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00E5A0"/>
                </a:solidFill>
                <a:latin typeface="Calibri"/>
              </a:rPr>
              <a:t>SOM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63040"/>
            <a:ext cx="7223760" cy="123444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91640"/>
            <a:ext cx="6675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$1.5B+ Total Annual Drug Spend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880360"/>
            <a:ext cx="7223760" cy="123444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108960"/>
            <a:ext cx="6675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0F4FF"/>
                </a:solidFill>
                <a:latin typeface="Calibri"/>
              </a:rPr>
              <a:t>12,416 PCN-Registered Pharmacies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297680"/>
            <a:ext cx="7223760" cy="1234440"/>
          </a:xfrm>
          <a:prstGeom prst="roundRect">
            <a:avLst/>
          </a:prstGeom>
          <a:solidFill>
            <a:srgbClr val="042018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526280"/>
            <a:ext cx="6675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00E5A0"/>
                </a:solidFill>
                <a:latin typeface="Calibri"/>
              </a:rPr>
              <a:t>5,000 Pharmacies (Year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892040"/>
            <a:ext cx="6675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  <a:latin typeface="Calibri"/>
              </a:rPr>
              <a:t>₦750M ARR (~$500k target)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3474720"/>
          </a:xfrm>
          <a:prstGeom prst="roundRect">
            <a:avLst/>
          </a:prstGeom>
          <a:solidFill>
            <a:srgbClr val="042018"/>
          </a:solidFill>
          <a:ln w="10160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65960"/>
            <a:ext cx="10149840" cy="2560320"/>
          </a:xfrm>
          <a:prstGeom prst="roundRect">
            <a:avLst/>
          </a:prstGeom>
          <a:solidFill>
            <a:srgbClr val="0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3200400"/>
            <a:ext cx="2834640" cy="10972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29184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794760"/>
            <a:ext cx="2560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Pharmacies Onboarded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560320"/>
            <a:ext cx="2834640" cy="10972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65176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>193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54680"/>
            <a:ext cx="2560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Pharmacists Onboarded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017520" cy="1097280"/>
          </a:xfrm>
          <a:prstGeom prst="roundRect">
            <a:avLst/>
          </a:prstGeom>
          <a:solidFill>
            <a:srgbClr val="042418"/>
          </a:solidFill>
          <a:ln w="1524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0E5A0"/>
                </a:solidFill>
                <a:latin typeface="Calibri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23160"/>
            <a:ext cx="2651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Rx Fulfillment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5212080" cy="100584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47548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7A8FA6"/>
                </a:solidFill>
                <a:latin typeface="Calibri"/>
              </a:rPr>
              <a:t>🛠️  TECHNICAL MOAT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864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7 PMS Integrations Built (Zero Vendor Permission Required)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74920"/>
            <a:ext cx="5212080" cy="100584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212080"/>
            <a:ext cx="47548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7A8FA6"/>
                </a:solidFill>
                <a:latin typeface="Calibri"/>
              </a:rPr>
              <a:t>💰  UNIT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864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~$0 Customer Acquisition Cost (Organic Peer Referrals)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35100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i="0">
                <a:solidFill>
                  <a:srgbClr val="F0F4FF"/>
                </a:solidFill>
                <a:latin typeface="Calibri"/>
              </a:rPr>
              <a:t>For the first time in our history, growth feels organic. Pharmacies are referring other pharmacies — without being asked.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>How we get inside: Meeting pharmacies at their exact point of tech need.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64592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Pharmacy Management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00E5A0"/>
                </a:solidFill>
                <a:latin typeface="Calibri"/>
              </a:rPr>
              <a:t>₦50k / 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7A8FA6"/>
                </a:solidFill>
                <a:latin typeface="Calibri"/>
              </a:rPr>
              <a:t>POS &amp; Live Inventory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383280" cy="164592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EMR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  <a:latin typeface="Calibri"/>
              </a:rPr>
              <a:t>₦50k / 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68880"/>
            <a:ext cx="3017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7A8FA6"/>
                </a:solidFill>
                <a:latin typeface="Calibri"/>
              </a:rPr>
              <a:t>Patient Clinical Rx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383280" cy="164592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4592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Digitization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  <a:latin typeface="Calibri"/>
              </a:rPr>
              <a:t>₦50k / 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68880"/>
            <a:ext cx="3017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7A8FA6"/>
                </a:solidFill>
                <a:latin typeface="Calibri"/>
              </a:rPr>
              <a:t>Subdomain Website &amp; AI Social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10716768" cy="1280160"/>
          </a:xfrm>
          <a:prstGeom prst="roundRect">
            <a:avLst/>
          </a:prstGeom>
          <a:solidFill>
            <a:srgbClr val="042018"/>
          </a:solidFill>
          <a:ln w="10160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20440"/>
            <a:ext cx="5486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00E5A0"/>
                </a:solidFill>
                <a:latin typeface="Calibri"/>
              </a:rPr>
              <a:t>FULL TERMINAL BUNDLE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94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Calibri"/>
              </a:rPr>
              <a:t>All Modules + Source Tab Network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657600"/>
            <a:ext cx="3383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3200" b="1" i="0">
                <a:solidFill>
                  <a:srgbClr val="00E5A0"/>
                </a:solidFill>
                <a:latin typeface="Calibri"/>
              </a:rPr>
              <a:t>₦150,000 / 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716768" cy="10972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20"/>
            <a:ext cx="5486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00E5A0"/>
                </a:solidFill>
                <a:latin typeface="Calibri"/>
              </a:rPr>
              <a:t>⚡  FULFILLMENT COMMISSION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6858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Marketplace transaction cut on medicine matches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66360"/>
            <a:ext cx="3200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400" b="1" i="0">
                <a:solidFill>
                  <a:srgbClr val="00E5A0"/>
                </a:solidFill>
                <a:latin typeface="Calibri"/>
              </a:rPr>
              <a:t>25% Fee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16768" cy="347472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00E5A0"/>
                </a:solidFill>
                <a:latin typeface="Calibri"/>
              </a:rPr>
              <a:t>▲ AUTOMATED LIVE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50" b="1" i="0">
                <a:solidFill>
                  <a:srgbClr val="7A8FA6"/>
                </a:solidFill>
                <a:latin typeface="Calibri"/>
              </a:rPr>
              <a:t>PHARMACIST DESKTOP (POINT OF FAILURE) 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4937760" cy="1371600"/>
          </a:xfrm>
          <a:prstGeom prst="roundRect">
            <a:avLst/>
          </a:prstGeom>
          <a:solidFill>
            <a:srgbClr val="0A182E"/>
          </a:solidFill>
          <a:ln w="635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74519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B2C E-Medicine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4572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7A8FA6"/>
                </a:solidFill>
                <a:latin typeface="Calibri"/>
              </a:rPr>
              <a:t>Far from counter; expects patient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4937760" cy="1371600"/>
          </a:xfrm>
          <a:prstGeom prst="roundRect">
            <a:avLst/>
          </a:prstGeom>
          <a:solidFill>
            <a:srgbClr val="042018"/>
          </a:solidFill>
          <a:ln w="10160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0E5A0"/>
                </a:solidFill>
                <a:latin typeface="Calibri"/>
              </a:rPr>
              <a:t>🏆 PharmaStackX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572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  <a:latin typeface="Calibri"/>
              </a:rPr>
              <a:t>Pharmacist PC at point of failure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246120"/>
            <a:ext cx="4937760" cy="1371600"/>
          </a:xfrm>
          <a:prstGeom prst="roundRect">
            <a:avLst/>
          </a:prstGeom>
          <a:solidFill>
            <a:srgbClr val="0A182E"/>
          </a:solidFill>
          <a:ln w="635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8328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Standalone POS, EMR,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4572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7A8FA6"/>
                </a:solidFill>
                <a:latin typeface="Calibri"/>
              </a:rPr>
              <a:t>Isolated store silos; zero network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46120"/>
            <a:ext cx="4937760" cy="1371600"/>
          </a:xfrm>
          <a:prstGeom prst="roundRect">
            <a:avLst/>
          </a:prstGeom>
          <a:solidFill>
            <a:srgbClr val="0A182E"/>
          </a:solidFill>
          <a:ln w="635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  <a:latin typeface="Calibri"/>
              </a:rPr>
              <a:t>WhatsApp &amp;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4572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7A8FA6"/>
                </a:solidFill>
                <a:latin typeface="Calibri"/>
              </a:rPr>
              <a:t>At counter, but slow manual texts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3383280" cy="10972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20640"/>
            <a:ext cx="31089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00E5A0"/>
                </a:solidFill>
                <a:latin typeface="Calibri"/>
              </a:rPr>
              <a:t>vs. WHATSAPP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94960"/>
            <a:ext cx="310896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Sub-second automated 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983480"/>
            <a:ext cx="3383280" cy="10972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5120640"/>
            <a:ext cx="31089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00E5A0"/>
                </a:solidFill>
                <a:latin typeface="Calibri"/>
              </a:rPr>
              <a:t>vs. B2C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394960"/>
            <a:ext cx="310896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B2B counter terminal focus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4983480"/>
            <a:ext cx="3383280" cy="10972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5120640"/>
            <a:ext cx="31089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00E5A0"/>
                </a:solidFill>
                <a:latin typeface="Calibri"/>
              </a:rPr>
              <a:t>vs. STANDALONE 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394960"/>
            <a:ext cx="310896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  <a:latin typeface="Calibri"/>
              </a:rPr>
              <a:t>Connected inter-store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9260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7A8FA6"/>
                </a:solidFill>
                <a:latin typeface="Calibri"/>
              </a:rPr>
              <a:t>YEAR 1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 i="0">
                <a:solidFill>
                  <a:srgbClr val="F0F4FF"/>
                </a:solidFill>
                <a:latin typeface="Calibri"/>
              </a:rPr>
              <a:t>$150k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0E5A0"/>
                </a:solidFill>
                <a:latin typeface="Calibri"/>
              </a:rPr>
              <a:t>500 Pharmacies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29260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7A8FA6"/>
                </a:solidFill>
                <a:latin typeface="Calibri"/>
              </a:rPr>
              <a:t>YEAR 2 (2027)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 i="0">
                <a:solidFill>
                  <a:srgbClr val="F0F4FF"/>
                </a:solidFill>
                <a:latin typeface="Calibri"/>
              </a:rPr>
              <a:t>$750k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0E5A0"/>
                </a:solidFill>
                <a:latin typeface="Calibri"/>
              </a:rPr>
              <a:t>2,500 Pharmacies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2926080"/>
          </a:xfrm>
          <a:prstGeom prst="roundRect">
            <a:avLst/>
          </a:prstGeom>
          <a:solidFill>
            <a:srgbClr val="042018"/>
          </a:solidFill>
          <a:ln w="1016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017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00E5A0"/>
                </a:solidFill>
                <a:latin typeface="Calibri"/>
              </a:rPr>
              <a:t>YEAR 3 (2028)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175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 i="0">
                <a:solidFill>
                  <a:srgbClr val="00E5A0"/>
                </a:solidFill>
                <a:latin typeface="Calibri"/>
              </a:rPr>
              <a:t>$2.4M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8328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Calibri"/>
              </a:rPr>
              <a:t>8,000 Pharmacies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0716768" cy="1371600"/>
          </a:xfrm>
          <a:prstGeom prst="roundRect">
            <a:avLst/>
          </a:prstGeom>
          <a:solidFill>
            <a:srgbClr val="0A182E"/>
          </a:solidFill>
          <a:ln w="10160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5486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00E5A0"/>
                </a:solidFill>
                <a:latin typeface="Calibri"/>
              </a:rPr>
              <a:t>PATH TO PROFITABILITY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Calibri"/>
              </a:rPr>
              <a:t>Cash-flow positive at Month 10 (350 pharmacies via ~$0 CAC referrals).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029200"/>
            <a:ext cx="3383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600" b="1" i="0">
                <a:solidFill>
                  <a:srgbClr val="00E5A0"/>
                </a:solidFill>
                <a:latin typeface="Calibri"/>
              </a:rPr>
              <a:t>85%+ Margin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>Built by domain experts.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606040" cy="438912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27632" y="1645920"/>
            <a:ext cx="822960" cy="822960"/>
          </a:xfrm>
          <a:prstGeom prst="ellipse">
            <a:avLst/>
          </a:prstGeom>
          <a:solidFill>
            <a:srgbClr val="061830"/>
          </a:solidFill>
          <a:ln w="1016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810512"/>
            <a:ext cx="822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423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0F4FF"/>
                </a:solidFill>
                <a:latin typeface="Calibri"/>
              </a:rPr>
              <a:t>Surge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2724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 i="0">
                <a:solidFill>
                  <a:srgbClr val="00E5A0"/>
                </a:solidFill>
                <a:latin typeface="Calibri"/>
              </a:rP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331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i="0">
                <a:solidFill>
                  <a:srgbClr val="7A8FA6"/>
                </a:solidFill>
                <a:latin typeface="Calibri"/>
              </a:rPr>
              <a:t>Licensed pharmacist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06040" cy="438912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25112" y="1645920"/>
            <a:ext cx="822960" cy="822960"/>
          </a:xfrm>
          <a:prstGeom prst="ellipse">
            <a:avLst/>
          </a:prstGeom>
          <a:solidFill>
            <a:srgbClr val="061830"/>
          </a:solidFill>
          <a:ln w="1016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810512"/>
            <a:ext cx="822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  <a:latin typeface="Calibri"/>
              </a:rPr>
              <a:t>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06040"/>
            <a:ext cx="2423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0F4FF"/>
                </a:solidFill>
                <a:latin typeface="Calibri"/>
              </a:rPr>
              <a:t>Dr. Maurice
Molokwu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12724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 i="0">
                <a:solidFill>
                  <a:srgbClr val="00E5A0"/>
                </a:solidFill>
                <a:latin typeface="Calibri"/>
              </a:rPr>
              <a:t>INDUSTRY 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20440"/>
            <a:ext cx="2331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i="0">
                <a:solidFill>
                  <a:srgbClr val="7A8FA6"/>
                </a:solidFill>
                <a:latin typeface="Calibri"/>
              </a:rPr>
              <a:t>Ex-GSK Director, South-South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2606040" cy="438912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22592" y="1645920"/>
            <a:ext cx="822960" cy="822960"/>
          </a:xfrm>
          <a:prstGeom prst="ellipse">
            <a:avLst/>
          </a:prstGeom>
          <a:solidFill>
            <a:srgbClr val="061830"/>
          </a:solidFill>
          <a:ln w="10160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1810512"/>
            <a:ext cx="822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  <a:latin typeface="Calibr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06040"/>
            <a:ext cx="2423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0F4FF"/>
                </a:solidFill>
                <a:latin typeface="Calibri"/>
              </a:rPr>
              <a:t>Osarogie
Ogiemudia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2724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 i="0">
                <a:solidFill>
                  <a:srgbClr val="00E5A0"/>
                </a:solidFill>
                <a:latin typeface="Calibri"/>
              </a:rPr>
              <a:t>TECHNICAL ADVISOR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520440"/>
            <a:ext cx="2331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i="0">
                <a:solidFill>
                  <a:srgbClr val="7A8FA6"/>
                </a:solidFill>
                <a:latin typeface="Calibri"/>
              </a:rPr>
              <a:t>Software &amp; robotics depth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371600"/>
            <a:ext cx="2606040" cy="4389120"/>
          </a:xfrm>
          <a:prstGeom prst="roundRect">
            <a:avLst/>
          </a:prstGeom>
          <a:solidFill>
            <a:srgbClr val="042018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20072" y="1645920"/>
            <a:ext cx="822960" cy="822960"/>
          </a:xfrm>
          <a:prstGeom prst="ellipse">
            <a:avLst/>
          </a:prstGeom>
          <a:solidFill>
            <a:srgbClr val="042418"/>
          </a:solidFill>
          <a:ln w="1016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1810512"/>
            <a:ext cx="822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  <a:latin typeface="Calibri"/>
              </a:rPr>
              <a:t>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606040"/>
            <a:ext cx="2423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00E5A0"/>
                </a:solidFill>
                <a:latin typeface="Calibri"/>
              </a:rPr>
              <a:t>Joy Afia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12724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 i="0">
                <a:solidFill>
                  <a:srgbClr val="00E5A0"/>
                </a:solidFill>
                <a:latin typeface="Calibri"/>
              </a:rPr>
              <a:t>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520440"/>
            <a:ext cx="2331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i="0">
                <a:solidFill>
                  <a:srgbClr val="F0F4FF"/>
                </a:solidFill>
                <a:latin typeface="Calibri"/>
              </a:rPr>
              <a:t>Patient turned team member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PRE-SEED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Calibri"/>
              </a:rPr>
              <a:t>The Ask: $100k to reach 500 pharmacies &amp; profitability.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800" b="1" i="0">
                <a:solidFill>
                  <a:srgbClr val="00E5A0"/>
                </a:solidFill>
                <a:latin typeface="Calibri"/>
              </a:rPr>
              <a:t>$100k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7A8FA6"/>
                </a:solidFill>
                <a:latin typeface="Calibri"/>
              </a:rPr>
              <a:t>PRE-SEED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Engineering &amp; Integrations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926080"/>
            <a:ext cx="1737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i="0">
                <a:solidFill>
                  <a:srgbClr val="00E5A0"/>
                </a:solidFill>
                <a:latin typeface="Calibri"/>
              </a:rPr>
              <a:t>$35k (35%)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Ops &amp; Cloud Infra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749040"/>
            <a:ext cx="1737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i="0">
                <a:solidFill>
                  <a:srgbClr val="00E5A0"/>
                </a:solidFill>
                <a:latin typeface="Calibri"/>
              </a:rPr>
              <a:t>$35k (35%)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  <a:latin typeface="Calibri"/>
              </a:rPr>
              <a:t>Field Sales &amp;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572000"/>
            <a:ext cx="1737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i="0">
                <a:solidFill>
                  <a:srgbClr val="00E5A0"/>
                </a:solidFill>
                <a:latin typeface="Calibri"/>
              </a:rPr>
              <a:t>$30k (30%)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30368" cy="2194560"/>
          </a:xfrm>
          <a:prstGeom prst="roundRect">
            <a:avLst/>
          </a:prstGeom>
          <a:solidFill>
            <a:srgbClr val="042018"/>
          </a:solidFill>
          <a:ln w="10160">
            <a:solidFill>
              <a:srgbClr val="006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47548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0E5A0"/>
                </a:solidFill>
                <a:latin typeface="Calibri"/>
              </a:rPr>
              <a:t>TARGET MILESTONE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7548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F0F4FF"/>
                </a:solidFill>
                <a:latin typeface="Calibri"/>
              </a:rPr>
              <a:t>500 pharmacies → $150k ARR → Cash-flow positive.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30368" cy="2286000"/>
          </a:xfrm>
          <a:prstGeom prst="roundRect">
            <a:avLst/>
          </a:prstGeom>
          <a:solidFill>
            <a:srgbClr val="0A182E"/>
          </a:solidFill>
          <a:ln w="9525">
            <a:solidFill>
              <a:srgbClr val="16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069080"/>
            <a:ext cx="47548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7A8FA6"/>
                </a:solidFill>
                <a:latin typeface="Calibri"/>
              </a:rPr>
              <a:t>5-YEAR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80560"/>
            <a:ext cx="47548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0F4FF"/>
                </a:solidFill>
                <a:latin typeface="Calibri"/>
              </a:rPr>
              <a:t>Building Africa's real-time pharmacy counter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